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Helvetica Neue"/>
      <p:regular r:id="rId15"/>
      <p:bold r:id="rId16"/>
      <p:italic r:id="rId17"/>
      <p:boldItalic r:id="rId18"/>
    </p:embeddedFont>
    <p:embeddedFont>
      <p:font typeface="Helvetica Neue Light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i3j5CDQpgCHyfGFFXHhFl2Bo2D/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0190C3-7411-4B4B-96EF-009C839F0915}">
  <a:tblStyle styleId="{550190C3-7411-4B4B-96EF-009C839F091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Light-bold.fntdata"/><Relationship Id="rId11" Type="http://schemas.openxmlformats.org/officeDocument/2006/relationships/slide" Target="slides/slide6.xml"/><Relationship Id="rId22" Type="http://schemas.openxmlformats.org/officeDocument/2006/relationships/font" Target="fonts/HelveticaNeueLight-boldItalic.fntdata"/><Relationship Id="rId10" Type="http://schemas.openxmlformats.org/officeDocument/2006/relationships/slide" Target="slides/slide5.xml"/><Relationship Id="rId21" Type="http://schemas.openxmlformats.org/officeDocument/2006/relationships/font" Target="fonts/HelveticaNeueLight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HelveticaNeue-regular.fntdata"/><Relationship Id="rId14" Type="http://schemas.openxmlformats.org/officeDocument/2006/relationships/slide" Target="slides/slide9.xml"/><Relationship Id="rId17" Type="http://schemas.openxmlformats.org/officeDocument/2006/relationships/font" Target="fonts/HelveticaNeue-italic.fntdata"/><Relationship Id="rId16" Type="http://schemas.openxmlformats.org/officeDocument/2006/relationships/font" Target="fonts/HelveticaNeue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HelveticaNeueLight-regular.fntdata"/><Relationship Id="rId6" Type="http://schemas.openxmlformats.org/officeDocument/2006/relationships/slide" Target="slides/slide1.xml"/><Relationship Id="rId18" Type="http://schemas.openxmlformats.org/officeDocument/2006/relationships/font" Target="fonts/HelveticaNeue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8af214e9df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g38af214e9df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45749e8f3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g3a45749e8f3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45749e8f3_1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g3a45749e8f3_1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45749e8f3_2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g3a45749e8f3_2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45749e8f3_1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g3a45749e8f3_1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45749e8f3_1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g3a45749e8f3_1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45749e8f3_1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g3a45749e8f3_1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45749e8f3_1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g3a45749e8f3_1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solidFill>
          <a:srgbClr val="801B19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844150" y="3874808"/>
            <a:ext cx="10515600" cy="835416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Helvetica Neue"/>
              <a:buNone/>
              <a:defRPr sz="3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" name="Google Shape;20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2932" y="1479396"/>
            <a:ext cx="4106136" cy="1347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/>
          <p:nvPr>
            <p:ph type="title"/>
          </p:nvPr>
        </p:nvSpPr>
        <p:spPr>
          <a:xfrm>
            <a:off x="594303" y="2667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7"/>
          <p:cNvSpPr txBox="1"/>
          <p:nvPr>
            <p:ph idx="1" type="body"/>
          </p:nvPr>
        </p:nvSpPr>
        <p:spPr>
          <a:xfrm>
            <a:off x="582427" y="176895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25" name="Google Shape;25;p7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" name="Google Shape;26;p7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73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247">
          <p15:clr>
            <a:srgbClr val="FBAE40"/>
          </p15:clr>
        </p15:guide>
        <p15:guide id="4" orient="horz" pos="164">
          <p15:clr>
            <a:srgbClr val="FBAE40"/>
          </p15:clr>
        </p15:guide>
        <p15:guide id="5" orient="horz" pos="1003">
          <p15:clr>
            <a:srgbClr val="FBAE40"/>
          </p15:clr>
        </p15:guide>
        <p15:guide id="6" pos="121">
          <p15:clr>
            <a:srgbClr val="FBAE40"/>
          </p15:clr>
        </p15:guide>
        <p15:guide id="7" pos="370">
          <p15:clr>
            <a:srgbClr val="FBAE40"/>
          </p15:clr>
        </p15:guide>
        <p15:guide id="8" orient="horz" pos="1117">
          <p15:clr>
            <a:srgbClr val="FBAE40"/>
          </p15:clr>
        </p15:guide>
        <p15:guide id="9" pos="6992">
          <p15:clr>
            <a:srgbClr val="FBAE40"/>
          </p15:clr>
        </p15:guide>
        <p15:guide id="10" orient="horz" pos="3861">
          <p15:clr>
            <a:srgbClr val="FBAE40"/>
          </p15:clr>
        </p15:guide>
        <p15:guide id="11" pos="7559">
          <p15:clr>
            <a:srgbClr val="FBAE40"/>
          </p15:clr>
        </p15:guide>
        <p15:guide id="12" orient="horz" pos="3952">
          <p15:clr>
            <a:srgbClr val="FBAE40"/>
          </p15:clr>
        </p15:guide>
        <p15:guide id="13" orient="horz" pos="4201">
          <p15:clr>
            <a:srgbClr val="FBAE40"/>
          </p15:clr>
        </p15:guide>
        <p15:guide id="14" orient="horz" pos="411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  <a:defRPr sz="5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b="0" i="0" sz="2000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Helvetica Neue Light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31" name="Google Shape;31;p6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2" name="Google Shape;32;p6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38" name="Google Shape;38;p8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47" name="Google Shape;47;p9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8" name="Google Shape;48;p9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52" name="Google Shape;52;p10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10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56" name="Google Shape;56;p11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11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63" name="Google Shape;63;p12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4" name="Google Shape;64;p12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70" name="Google Shape;70;p13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1" name="Google Shape;71;p13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4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76" name="Google Shape;76;p14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7" name="Google Shape;77;p14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5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82" name="Google Shape;82;p15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3" name="Google Shape;83;p15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b="0" i="0" sz="2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b="0" i="0" sz="20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2" name="Google Shape;12;p4"/>
          <p:cNvGrpSpPr/>
          <p:nvPr/>
        </p:nvGrpSpPr>
        <p:grpSpPr>
          <a:xfrm>
            <a:off x="0" y="6756400"/>
            <a:ext cx="12192000" cy="105496"/>
            <a:chOff x="0" y="6756400"/>
            <a:chExt cx="12192000" cy="105496"/>
          </a:xfrm>
        </p:grpSpPr>
        <p:pic>
          <p:nvPicPr>
            <p:cNvPr id="13" name="Google Shape;13;p4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1524000" y="6756400"/>
              <a:ext cx="91440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4"/>
            <p:cNvPicPr preferRelativeResize="0"/>
            <p:nvPr/>
          </p:nvPicPr>
          <p:blipFill rotWithShape="1">
            <a:blip r:embed="rId1">
              <a:alphaModFix/>
            </a:blip>
            <a:srcRect b="15585" l="0" r="71580" t="0"/>
            <a:stretch/>
          </p:blipFill>
          <p:spPr>
            <a:xfrm>
              <a:off x="0" y="6756400"/>
              <a:ext cx="2598717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4"/>
            <p:cNvPicPr preferRelativeResize="0"/>
            <p:nvPr/>
          </p:nvPicPr>
          <p:blipFill rotWithShape="1">
            <a:blip r:embed="rId1">
              <a:alphaModFix/>
            </a:blip>
            <a:srcRect b="15585" l="0" r="71580" t="0"/>
            <a:stretch/>
          </p:blipFill>
          <p:spPr>
            <a:xfrm>
              <a:off x="9593283" y="6756400"/>
              <a:ext cx="2598717" cy="1054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17" name="Google Shape;17;p4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Relationship Id="rId4" Type="http://schemas.openxmlformats.org/officeDocument/2006/relationships/image" Target="../media/image11.png"/><Relationship Id="rId5" Type="http://schemas.openxmlformats.org/officeDocument/2006/relationships/image" Target="../media/image6.jpg"/><Relationship Id="rId6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5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title"/>
          </p:nvPr>
        </p:nvSpPr>
        <p:spPr>
          <a:xfrm>
            <a:off x="841175" y="3284533"/>
            <a:ext cx="10515600" cy="8355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300"/>
              <a:t>Multi-View 2D Image-Based 3D</a:t>
            </a:r>
            <a:endParaRPr sz="43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300"/>
              <a:t>Modeling of Objects</a:t>
            </a:r>
            <a:endParaRPr sz="4300"/>
          </a:p>
        </p:txBody>
      </p:sp>
      <p:sp>
        <p:nvSpPr>
          <p:cNvPr id="89" name="Google Shape;89;p1"/>
          <p:cNvSpPr txBox="1"/>
          <p:nvPr>
            <p:ph idx="4294967295" type="body"/>
          </p:nvPr>
        </p:nvSpPr>
        <p:spPr>
          <a:xfrm>
            <a:off x="835225" y="466231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</a:pPr>
            <a:r>
              <a:rPr b="1" lang="en-US">
                <a:solidFill>
                  <a:schemeClr val="lt1"/>
                </a:solidFill>
              </a:rPr>
              <a:t>GROUP 11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841175" y="5192725"/>
            <a:ext cx="43818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Jugal Vaghmashi [AU2340017]</a:t>
            </a:r>
            <a:endParaRPr b="0" i="0" sz="1500" u="none" cap="none" strike="noStrike">
              <a:solidFill>
                <a:schemeClr val="lt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Rena Malhotra [AU2340018]</a:t>
            </a:r>
            <a:endParaRPr b="0" i="0" sz="1500" u="none" cap="none" strike="noStrike">
              <a:solidFill>
                <a:schemeClr val="lt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Siya Dhaduk [AU2340022]</a:t>
            </a:r>
            <a:endParaRPr b="0" i="0" sz="1500" u="none" cap="none" strike="noStrike">
              <a:solidFill>
                <a:schemeClr val="lt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Jayvat Shah [AU2340027]</a:t>
            </a:r>
            <a:endParaRPr b="0" i="0" sz="1500" u="none" cap="none" strike="noStrike">
              <a:solidFill>
                <a:schemeClr val="lt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af214e9df_0_23"/>
          <p:cNvSpPr txBox="1"/>
          <p:nvPr>
            <p:ph type="title"/>
          </p:nvPr>
        </p:nvSpPr>
        <p:spPr>
          <a:xfrm>
            <a:off x="594303" y="-3017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g38af214e9df_0_23"/>
          <p:cNvSpPr txBox="1"/>
          <p:nvPr>
            <p:ph idx="1" type="body"/>
          </p:nvPr>
        </p:nvSpPr>
        <p:spPr>
          <a:xfrm>
            <a:off x="594302" y="14787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•"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Aim: To reconstruct a 3D diamond stone model using 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multiple 2D silhouette projections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•"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Application in Robotics and Medical Imaging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•"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Motivation: Diamonds’ precision geometry 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requires accurate 3D visualization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•"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700 images of a single diamond stone 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(BMP format)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•"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Captured at 0.9°,1.8°,3.6</a:t>
            </a: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° </a:t>
            </a: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rotational difference 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" name="Google Shape;97;g38af214e9df_0_23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8" name="Google Shape;98;g38af214e9df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7950" y="1773245"/>
            <a:ext cx="3483248" cy="195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g38af214e9df_0_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8425" y="3946097"/>
            <a:ext cx="2962301" cy="25075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45749e8f3_1_0"/>
          <p:cNvSpPr txBox="1"/>
          <p:nvPr>
            <p:ph type="title"/>
          </p:nvPr>
        </p:nvSpPr>
        <p:spPr>
          <a:xfrm>
            <a:off x="594303" y="-3017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Work Done Before Mid-Sem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g3a45749e8f3_1_0"/>
          <p:cNvSpPr txBox="1"/>
          <p:nvPr>
            <p:ph idx="1" type="body"/>
          </p:nvPr>
        </p:nvSpPr>
        <p:spPr>
          <a:xfrm>
            <a:off x="4044013" y="1264900"/>
            <a:ext cx="3669000" cy="71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Creating Clean Silhouette               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g3a45749e8f3_1_0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7" name="Google Shape;107;g3a45749e8f3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7561" y="2998493"/>
            <a:ext cx="4033576" cy="3168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g3a45749e8f3_1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5950" y="2145200"/>
            <a:ext cx="3899700" cy="316882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9" name="Google Shape;109;g3a45749e8f3_1_0"/>
          <p:cNvPicPr preferRelativeResize="0"/>
          <p:nvPr/>
        </p:nvPicPr>
        <p:blipFill rotWithShape="1">
          <a:blip r:embed="rId5">
            <a:alphaModFix/>
          </a:blip>
          <a:srcRect b="2747" l="12740" r="6724" t="3803"/>
          <a:stretch/>
        </p:blipFill>
        <p:spPr>
          <a:xfrm>
            <a:off x="176475" y="2145200"/>
            <a:ext cx="3596275" cy="3168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3a45749e8f3_1_0" title="equation (1).png"/>
          <p:cNvPicPr preferRelativeResize="0"/>
          <p:nvPr/>
        </p:nvPicPr>
        <p:blipFill rotWithShape="1">
          <a:blip r:embed="rId6">
            <a:alphaModFix/>
          </a:blip>
          <a:srcRect b="25547" l="-1995" r="-1911" t="-11017"/>
          <a:stretch/>
        </p:blipFill>
        <p:spPr>
          <a:xfrm>
            <a:off x="4156225" y="2144175"/>
            <a:ext cx="3596275" cy="712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1" name="Google Shape;111;g3a45749e8f3_1_0"/>
          <p:cNvSpPr txBox="1"/>
          <p:nvPr>
            <p:ph idx="1" type="body"/>
          </p:nvPr>
        </p:nvSpPr>
        <p:spPr>
          <a:xfrm>
            <a:off x="64263" y="1264900"/>
            <a:ext cx="3669000" cy="71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-381000" lvl="0" marL="4572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ROI Selection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g3a45749e8f3_1_0"/>
          <p:cNvSpPr txBox="1"/>
          <p:nvPr>
            <p:ph idx="1" type="body"/>
          </p:nvPr>
        </p:nvSpPr>
        <p:spPr>
          <a:xfrm>
            <a:off x="8175438" y="1264900"/>
            <a:ext cx="3669000" cy="71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3. Voxel Grid Creation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45749e8f3_1_6"/>
          <p:cNvSpPr txBox="1"/>
          <p:nvPr>
            <p:ph type="title"/>
          </p:nvPr>
        </p:nvSpPr>
        <p:spPr>
          <a:xfrm>
            <a:off x="594303" y="-3017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Updated Methodology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g3a45749e8f3_1_6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19" name="Google Shape;119;g3a45749e8f3_1_6"/>
          <p:cNvGraphicFramePr/>
          <p:nvPr/>
        </p:nvGraphicFramePr>
        <p:xfrm>
          <a:off x="226163" y="1487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{550190C3-7411-4B4B-96EF-009C839F0915}</a:tableStyleId>
              </a:tblPr>
              <a:tblGrid>
                <a:gridCol w="4533850"/>
              </a:tblGrid>
              <a:tr h="1325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Replaced manual thresholding with </a:t>
                      </a:r>
                      <a:r>
                        <a:rPr b="1" lang="en-US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Otsu’s auto-threshold method </a:t>
                      </a:r>
                      <a:br>
                        <a:rPr b="1" lang="en-US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endParaRPr b="1" sz="13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Ensures consistent and unbiased silhouette generation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Handles varying illumination across images</a:t>
                      </a:r>
                      <a:endParaRPr sz="13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20" name="Google Shape;120;g3a45749e8f3_1_6"/>
          <p:cNvGraphicFramePr/>
          <p:nvPr/>
        </p:nvGraphicFramePr>
        <p:xfrm>
          <a:off x="4919988" y="18034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{550190C3-7411-4B4B-96EF-009C839F0915}</a:tableStyleId>
              </a:tblPr>
              <a:tblGrid>
                <a:gridCol w="4318775"/>
              </a:tblGrid>
              <a:tr h="1592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Reconstructed 3D shape using silhouettes from multiple views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Each silhouette defines a </a:t>
                      </a:r>
                      <a:r>
                        <a:rPr b="1" lang="en-US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visual cone 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[1]</a:t>
                      </a:r>
                      <a:br>
                        <a:rPr b="1" lang="en-US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endParaRPr b="1" sz="13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Final 3D model = </a:t>
                      </a:r>
                      <a:r>
                        <a:rPr b="1" lang="en-US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intersection of all cones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(carving away impossible regions)</a:t>
                      </a:r>
                      <a:endParaRPr sz="13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21" name="Google Shape;121;g3a45749e8f3_1_6"/>
          <p:cNvGraphicFramePr/>
          <p:nvPr/>
        </p:nvGraphicFramePr>
        <p:xfrm>
          <a:off x="226163" y="3216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{550190C3-7411-4B4B-96EF-009C839F0915}</a:tableStyleId>
              </a:tblPr>
              <a:tblGrid>
                <a:gridCol w="4533850"/>
              </a:tblGrid>
              <a:tr h="1325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Generated synthetic silhouettes of sphere using simple shapes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Performed voxel-grid carving to validate pipeline [2]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Confirmed correctness before processing real images</a:t>
                      </a:r>
                      <a:endParaRPr sz="13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22" name="Google Shape;122;g3a45749e8f3_1_6"/>
          <p:cNvPicPr preferRelativeResize="0"/>
          <p:nvPr/>
        </p:nvPicPr>
        <p:blipFill rotWithShape="1">
          <a:blip r:embed="rId3">
            <a:alphaModFix/>
          </a:blip>
          <a:srcRect b="11282" l="7439" r="9717" t="16852"/>
          <a:stretch/>
        </p:blipFill>
        <p:spPr>
          <a:xfrm>
            <a:off x="9398737" y="1123150"/>
            <a:ext cx="2481350" cy="203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g3a45749e8f3_1_6"/>
          <p:cNvPicPr preferRelativeResize="0"/>
          <p:nvPr/>
        </p:nvPicPr>
        <p:blipFill rotWithShape="1">
          <a:blip r:embed="rId4">
            <a:alphaModFix/>
          </a:blip>
          <a:srcRect b="13195" l="53598" r="5370" t="15553"/>
          <a:stretch/>
        </p:blipFill>
        <p:spPr>
          <a:xfrm>
            <a:off x="8398588" y="3636825"/>
            <a:ext cx="2724873" cy="183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g3a45749e8f3_1_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6162" y="4732925"/>
            <a:ext cx="4533850" cy="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g3a45749e8f3_1_6"/>
          <p:cNvSpPr txBox="1"/>
          <p:nvPr>
            <p:ph idx="1" type="body"/>
          </p:nvPr>
        </p:nvSpPr>
        <p:spPr>
          <a:xfrm>
            <a:off x="9398738" y="3162800"/>
            <a:ext cx="2567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85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Reconstructed 3D Sphere Voxel Model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6" name="Google Shape;126;g3a45749e8f3_1_6"/>
          <p:cNvPicPr preferRelativeResize="0"/>
          <p:nvPr/>
        </p:nvPicPr>
        <p:blipFill rotWithShape="1">
          <a:blip r:embed="rId4">
            <a:alphaModFix/>
          </a:blip>
          <a:srcRect b="13196" l="0" r="55060" t="19025"/>
          <a:stretch/>
        </p:blipFill>
        <p:spPr>
          <a:xfrm>
            <a:off x="5010563" y="3636825"/>
            <a:ext cx="3137476" cy="183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g3a45749e8f3_1_6"/>
          <p:cNvSpPr txBox="1"/>
          <p:nvPr>
            <p:ph idx="1" type="body"/>
          </p:nvPr>
        </p:nvSpPr>
        <p:spPr>
          <a:xfrm>
            <a:off x="5580938" y="5119350"/>
            <a:ext cx="2567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3D voxel grid visualization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g3a45749e8f3_1_6"/>
          <p:cNvSpPr txBox="1"/>
          <p:nvPr>
            <p:ph idx="1" type="body"/>
          </p:nvPr>
        </p:nvSpPr>
        <p:spPr>
          <a:xfrm>
            <a:off x="8653325" y="5303513"/>
            <a:ext cx="2567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Close-up view showing voxel density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45749e8f3_2_10"/>
          <p:cNvSpPr txBox="1"/>
          <p:nvPr>
            <p:ph type="title"/>
          </p:nvPr>
        </p:nvSpPr>
        <p:spPr>
          <a:xfrm>
            <a:off x="594303" y="-3017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Updated Methodology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g3a45749e8f3_2_10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35" name="Google Shape;135;g3a45749e8f3_2_10"/>
          <p:cNvGraphicFramePr/>
          <p:nvPr/>
        </p:nvGraphicFramePr>
        <p:xfrm>
          <a:off x="996925" y="17732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{550190C3-7411-4B4B-96EF-009C839F0915}</a:tableStyleId>
              </a:tblPr>
              <a:tblGrid>
                <a:gridCol w="5162375"/>
              </a:tblGrid>
              <a:tr h="3104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Converted diamond image to silhouette using Otsu</a:t>
                      </a:r>
                      <a:br>
                        <a:rPr lang="en-US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Placed voxel grid around object</a:t>
                      </a:r>
                      <a:br>
                        <a:rPr lang="en-US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Performed shape carving from multiple viewpoints</a:t>
                      </a:r>
                      <a:br>
                        <a:rPr lang="en-US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Used 3 rotation angles: </a:t>
                      </a:r>
                      <a:r>
                        <a:rPr b="1" lang="en-US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 rad, 1.8 rad, 3.6 rad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id="136" name="Google Shape;136;g3a45749e8f3_2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0250" y="1773251"/>
            <a:ext cx="4594818" cy="310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45749e8f3_1_12"/>
          <p:cNvSpPr txBox="1"/>
          <p:nvPr>
            <p:ph type="title"/>
          </p:nvPr>
        </p:nvSpPr>
        <p:spPr>
          <a:xfrm>
            <a:off x="594303" y="-3017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g3a45749e8f3_1_12"/>
          <p:cNvSpPr txBox="1"/>
          <p:nvPr>
            <p:ph idx="1" type="body"/>
          </p:nvPr>
        </p:nvSpPr>
        <p:spPr>
          <a:xfrm>
            <a:off x="594300" y="1023925"/>
            <a:ext cx="111837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After improving ROI selection, thresholding, voxel projection, resolution, and silhouette quality, the diamond model was fully reconstructed without missing regions or geometric errors.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Impact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of Angular Sampling: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95"/>
              <a:buNone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 Finer Sampling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                     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  Moderate Sampling 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                      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Coarse Sampling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595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t/>
            </a:r>
            <a:endParaRPr/>
          </a:p>
        </p:txBody>
      </p:sp>
      <p:sp>
        <p:nvSpPr>
          <p:cNvPr id="143" name="Google Shape;143;g3a45749e8f3_1_12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4" name="Google Shape;144;g3a45749e8f3_1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2954" y="3429000"/>
            <a:ext cx="2638500" cy="249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g3a45749e8f3_1_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7175" y="3412967"/>
            <a:ext cx="2619375" cy="253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g3a45749e8f3_1_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88928" y="3376809"/>
            <a:ext cx="2609850" cy="264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3a45749e8f3_1_12"/>
          <p:cNvSpPr txBox="1"/>
          <p:nvPr>
            <p:ph idx="1" type="body"/>
          </p:nvPr>
        </p:nvSpPr>
        <p:spPr>
          <a:xfrm>
            <a:off x="442713" y="5453608"/>
            <a:ext cx="3669000" cy="71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4572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0.9° (400 images)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g3a45749e8f3_1_12"/>
          <p:cNvSpPr txBox="1"/>
          <p:nvPr>
            <p:ph idx="1" type="body"/>
          </p:nvPr>
        </p:nvSpPr>
        <p:spPr>
          <a:xfrm>
            <a:off x="4349570" y="5460037"/>
            <a:ext cx="3669000" cy="71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4572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1.8</a:t>
            </a: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° (200 images)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g3a45749e8f3_1_12"/>
          <p:cNvSpPr txBox="1"/>
          <p:nvPr>
            <p:ph idx="1" type="body"/>
          </p:nvPr>
        </p:nvSpPr>
        <p:spPr>
          <a:xfrm>
            <a:off x="8256390" y="5532362"/>
            <a:ext cx="3669000" cy="711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4572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.6° (100 images)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45749e8f3_1_18"/>
          <p:cNvSpPr txBox="1"/>
          <p:nvPr>
            <p:ph type="title"/>
          </p:nvPr>
        </p:nvSpPr>
        <p:spPr>
          <a:xfrm>
            <a:off x="594300" y="260350"/>
            <a:ext cx="10515600" cy="86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g3a45749e8f3_1_18"/>
          <p:cNvSpPr txBox="1"/>
          <p:nvPr>
            <p:ph idx="1" type="body"/>
          </p:nvPr>
        </p:nvSpPr>
        <p:spPr>
          <a:xfrm>
            <a:off x="594302" y="13263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Implemented a complete multi-view silhouette-based 3D reconstruction pipeline using the visual hull method.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Angular sampling directly affects reconstruction quality: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.9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°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rotation gives the best fidelity and minimal artifacts.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❏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Coarser sampling (1.8°, 3.6°) reduces detail and increases irregularities.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Visual hull size remains proportional to input image dimensions, preserving correct scale and aspect ratio.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a45749e8f3_1_18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45749e8f3_1_24"/>
          <p:cNvSpPr txBox="1"/>
          <p:nvPr>
            <p:ph type="title"/>
          </p:nvPr>
        </p:nvSpPr>
        <p:spPr>
          <a:xfrm>
            <a:off x="594303" y="-3017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g3a45749e8f3_1_24"/>
          <p:cNvSpPr txBox="1"/>
          <p:nvPr>
            <p:ph idx="1" type="body"/>
          </p:nvPr>
        </p:nvSpPr>
        <p:spPr>
          <a:xfrm>
            <a:off x="594302" y="13263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A. Laurentini, “The Visual Hull Concept for Silhouette-Based Image Understanding,” IEEE Transactions on Pattern Analysis and Machine Intelligence, vol. 16, no. 2, pp. 150–162, 1994.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T. Pham, H. Nguyen, and M. Ho, “Multi-View 3D Reconstruction from Silhouettes,” Computer Vision and Image Understanding, vol. 203, 103151, 2021.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95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595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g3a45749e8f3_1_24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45749e8f3_1_30"/>
          <p:cNvSpPr txBox="1"/>
          <p:nvPr>
            <p:ph type="title"/>
          </p:nvPr>
        </p:nvSpPr>
        <p:spPr>
          <a:xfrm>
            <a:off x="838203" y="27661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 sz="10000"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10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g3a45749e8f3_1_30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Ahmedabad University ">
      <a:dk1>
        <a:srgbClr val="000000"/>
      </a:dk1>
      <a:lt1>
        <a:srgbClr val="FFFFFF"/>
      </a:lt1>
      <a:dk2>
        <a:srgbClr val="7D1916"/>
      </a:dk2>
      <a:lt2>
        <a:srgbClr val="F2F1EE"/>
      </a:lt2>
      <a:accent1>
        <a:srgbClr val="894C00"/>
      </a:accent1>
      <a:accent2>
        <a:srgbClr val="7F4700"/>
      </a:accent2>
      <a:accent3>
        <a:srgbClr val="A5A5A5"/>
      </a:accent3>
      <a:accent4>
        <a:srgbClr val="BC933E"/>
      </a:accent4>
      <a:accent5>
        <a:srgbClr val="000000"/>
      </a:accent5>
      <a:accent6>
        <a:srgbClr val="FEFFFF"/>
      </a:accent6>
      <a:hlink>
        <a:srgbClr val="000000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